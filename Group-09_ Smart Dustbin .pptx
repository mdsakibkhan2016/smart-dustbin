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1" r:id="rId2"/>
    <p:sldId id="281" r:id="rId3"/>
    <p:sldId id="267" r:id="rId4"/>
    <p:sldId id="258" r:id="rId5"/>
    <p:sldId id="304" r:id="rId6"/>
    <p:sldId id="305" r:id="rId7"/>
    <p:sldId id="307" r:id="rId8"/>
    <p:sldId id="268" r:id="rId9"/>
    <p:sldId id="308" r:id="rId10"/>
    <p:sldId id="309" r:id="rId11"/>
    <p:sldId id="310" r:id="rId12"/>
    <p:sldId id="311" r:id="rId13"/>
    <p:sldId id="312" r:id="rId14"/>
    <p:sldId id="313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4512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7296" userDrawn="1">
          <p15:clr>
            <a:srgbClr val="A4A3A4"/>
          </p15:clr>
        </p15:guide>
        <p15:guide id="5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7F91D"/>
    <a:srgbClr val="F68A2B"/>
    <a:srgbClr val="3033BF"/>
    <a:srgbClr val="757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4319" autoAdjust="0"/>
  </p:normalViewPr>
  <p:slideViewPr>
    <p:cSldViewPr snapToGrid="0" showGuides="1">
      <p:cViewPr varScale="1">
        <p:scale>
          <a:sx n="62" d="100"/>
          <a:sy n="62" d="100"/>
        </p:scale>
        <p:origin x="523" y="67"/>
      </p:cViewPr>
      <p:guideLst>
        <p:guide orient="horz" pos="2208"/>
        <p:guide pos="4512"/>
        <p:guide pos="384"/>
        <p:guide pos="7296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C0911-1D11-46CA-88BA-86F56E4D6C77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EA1B7-C4AC-40F2-ADBC-7FF367B8E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EA1B7-C4AC-40F2-ADBC-7FF367B8EE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5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EA1B7-C4AC-40F2-ADBC-7FF367B8EE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4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5DCFDA-7314-6B46-8746-F83464BB6472}"/>
              </a:ext>
            </a:extLst>
          </p:cNvPr>
          <p:cNvSpPr/>
          <p:nvPr userDrawn="1"/>
        </p:nvSpPr>
        <p:spPr>
          <a:xfrm>
            <a:off x="381965" y="78395"/>
            <a:ext cx="11382978" cy="1232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2E5D05-CBDB-E96C-5A02-E24932A1D990}"/>
              </a:ext>
            </a:extLst>
          </p:cNvPr>
          <p:cNvCxnSpPr>
            <a:cxnSpLocks/>
          </p:cNvCxnSpPr>
          <p:nvPr userDrawn="1"/>
        </p:nvCxnSpPr>
        <p:spPr>
          <a:xfrm>
            <a:off x="404511" y="6591926"/>
            <a:ext cx="11382978" cy="0"/>
          </a:xfrm>
          <a:prstGeom prst="line">
            <a:avLst/>
          </a:prstGeom>
          <a:ln w="1016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logo of a candle and a book&#10;&#10;Description automatically generated">
            <a:extLst>
              <a:ext uri="{FF2B5EF4-FFF2-40B4-BE49-F238E27FC236}">
                <a16:creationId xmlns:a16="http://schemas.microsoft.com/office/drawing/2014/main" id="{4405C3B2-391D-DE49-AEBD-9528FCFB7F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743" y="148102"/>
            <a:ext cx="1113654" cy="111365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5FE8C6A-0047-C2C8-7192-1C4805B9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77" y="332818"/>
            <a:ext cx="9396154" cy="723866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27B9FB-5F22-6170-D19D-F0A5185CC1CA}"/>
              </a:ext>
            </a:extLst>
          </p:cNvPr>
          <p:cNvGrpSpPr/>
          <p:nvPr userDrawn="1"/>
        </p:nvGrpSpPr>
        <p:grpSpPr>
          <a:xfrm>
            <a:off x="381965" y="1363000"/>
            <a:ext cx="11382978" cy="148"/>
            <a:chOff x="381965" y="2341347"/>
            <a:chExt cx="11382978" cy="14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081EC8-932A-B0CA-ECF4-F0F4055DA6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73454" y="2341398"/>
              <a:ext cx="1655214" cy="0"/>
            </a:xfrm>
            <a:prstGeom prst="line">
              <a:avLst/>
            </a:prstGeom>
            <a:ln w="101600">
              <a:solidFill>
                <a:srgbClr val="3033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544014-07C5-3DFC-CF96-7B52D2F229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1965" y="2341347"/>
              <a:ext cx="5714035" cy="0"/>
            </a:xfrm>
            <a:prstGeom prst="line">
              <a:avLst/>
            </a:prstGeom>
            <a:ln w="101600">
              <a:solidFill>
                <a:srgbClr val="F68A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95170-6375-AEF8-D23E-D88BF6F6B5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28668" y="2341495"/>
              <a:ext cx="4036275" cy="0"/>
            </a:xfrm>
            <a:prstGeom prst="line">
              <a:avLst/>
            </a:prstGeom>
            <a:ln w="101600">
              <a:solidFill>
                <a:srgbClr val="F7F91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830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D7B1-2E5E-930C-BB5D-D75EAE20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332D-3208-0738-2C73-D9EED4A3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4FB1-AD68-8847-C532-95F1F16F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B782-AF53-72D3-065C-0B961B87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0F25-8B4A-43D0-8753-F01E5F01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56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D445-0009-269B-3A11-DCDB116C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C88FF-DB7D-D668-A0A6-14C49A0CE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DBE53-3429-B159-5553-C18F0E4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810A6-90BC-A7B7-A8B6-0BB75A70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31842-718C-46D9-8DE1-3A7AD1AA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5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A85C-38D1-77AE-7824-1CC7D79C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2AA9-97FB-E99F-4C20-B0BAD525B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248DC-4AE7-B492-7CAE-5AB6A2EF4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8F6E3-F41E-E84D-3472-6FCC64B1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C2DBF-78B5-18E7-167B-98AACC7E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AB5FF-277B-CD35-94C2-98E6FC1C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777B-DD7F-753D-96D6-811EB2D6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05F5B-3D2F-0EEA-7E90-708D44CAA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BE463-D868-CD33-05CD-63443E476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E99F1-CB30-D341-3A6A-0E4F0B6B9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59C94-C92A-77D1-C49C-C58AB1819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6A2B2-3CD8-A73E-4A58-1FB72E19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CD87B-28FE-169A-1436-70D30186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AC1AB-3939-02B7-826D-49365EAE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8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4655-E45A-E071-C99D-C7C5E026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88581-E484-F9FB-6CAA-D1DAF955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CF31A-5F87-D492-0641-52859A30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8089E-0820-E3CB-B69F-D9EC30AB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1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D9C96-9158-1A71-E59D-66A09CE0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0EBD5-2F55-724A-C523-A9BAB555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0C000-0125-2B81-D837-E1693726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2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17D8-7A03-BF64-BB6A-E18B98C3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310AC-4007-2082-F7DA-2A019C0F9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21F48-B7DF-18C0-E430-08AC132C2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CC6CB-5516-58A0-B65C-830F31D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6C367-1C92-B163-318D-6338B4B8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556A9-CC0F-BEB5-A27A-124C9F5F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1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9A5D-E2A9-1E8B-C7EA-AB6FFF7E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ECFB98-E44D-5F83-05D9-24650D064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E5731-CDE5-71AB-ADE6-1049D3318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7B4A9-A81C-1859-FA45-0A236B6F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FD076-F9D7-EF96-6282-5B6DE178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C800-71F4-2514-D44A-5681E71D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1163-2BB8-6016-3D58-A22A1A8D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C7D8E-355F-C028-7DAA-19C61DAF5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E65F8-8DA6-F098-46B3-BA0FA0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E1879-53FD-119F-937D-3D1681AE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7A2C0-98B8-7E85-1B94-63858D74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6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CB5A-5B7E-DDDC-2BC3-6DB3F1325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FB2B6-1805-0147-C4FD-5FC1F8993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0A31-BB15-4C43-9C2C-18A2A61B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0E416-13BE-33FE-06BA-77FC51FA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E9CA6-9CF5-F79E-5AB1-998D2AF2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0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21221-4AD1-2F12-2130-2724F3F8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E671D-4616-D66C-C4A7-F25646DFD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5427-AB56-D266-B602-BA001FC46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72CF3-ABE9-41B5-B177-88685450705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CBA23-0C04-50FE-9E74-12C22480B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52570-FAF9-65F7-B7F7-D89290315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6B457-A441-49FB-BC50-4B2A5344C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4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oman shopping with fabric tote bag">
            <a:extLst>
              <a:ext uri="{FF2B5EF4-FFF2-40B4-BE49-F238E27FC236}">
                <a16:creationId xmlns:a16="http://schemas.microsoft.com/office/drawing/2014/main" id="{CD99AD6F-680A-FD60-7FBB-95352BA6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9" r="25337" b="9091"/>
          <a:stretch/>
        </p:blipFill>
        <p:spPr bwMode="auto">
          <a:xfrm>
            <a:off x="3679120" y="10"/>
            <a:ext cx="849495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F30E6-1772-11C9-8509-4D6C6C172A9D}"/>
              </a:ext>
            </a:extLst>
          </p:cNvPr>
          <p:cNvSpPr txBox="1"/>
          <p:nvPr/>
        </p:nvSpPr>
        <p:spPr>
          <a:xfrm>
            <a:off x="241312" y="2610455"/>
            <a:ext cx="5618019" cy="8566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atin typeface="+mj-lt"/>
                <a:ea typeface="+mj-ea"/>
                <a:cs typeface="+mj-cs"/>
              </a:rPr>
              <a:t>Smart Dustbin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06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D1D4658-32CD-4903-BDA6-7B54EEA4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A29A97C-0C3C-4F06-9CA4-68DFD1CE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0886" y="983228"/>
            <a:ext cx="8301112" cy="5874772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01292C1-8B12-4AF2-9B59-8851A132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700" y="360023"/>
            <a:ext cx="5342806" cy="4453168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 descr="A logo of a candle and a book&#10;&#10;Description automatically generated">
            <a:extLst>
              <a:ext uri="{FF2B5EF4-FFF2-40B4-BE49-F238E27FC236}">
                <a16:creationId xmlns:a16="http://schemas.microsoft.com/office/drawing/2014/main" id="{6654F30F-45C4-825D-C7AB-39C1A2283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038" y="1087304"/>
            <a:ext cx="2976956" cy="2976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90021-CBC6-DC90-12C5-2CCADB3EF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818" y="224658"/>
            <a:ext cx="5242363" cy="5635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032A1E-724C-7F30-6D25-27EE2D988882}"/>
              </a:ext>
            </a:extLst>
          </p:cNvPr>
          <p:cNvSpPr txBox="1"/>
          <p:nvPr/>
        </p:nvSpPr>
        <p:spPr>
          <a:xfrm>
            <a:off x="6008581" y="1566208"/>
            <a:ext cx="55738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MD Rafi Alam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ID:2022100000092</a:t>
            </a:r>
          </a:p>
          <a:p>
            <a:pPr algn="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ID:2022100000099</a:t>
            </a:r>
          </a:p>
          <a:p>
            <a:pPr algn="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6F52B-E116-B5D4-2EB9-F891BD545C97}"/>
              </a:ext>
            </a:extLst>
          </p:cNvPr>
          <p:cNvSpPr txBox="1"/>
          <p:nvPr/>
        </p:nvSpPr>
        <p:spPr>
          <a:xfrm>
            <a:off x="5220070" y="4492101"/>
            <a:ext cx="6362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Embedded Systems Lab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382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Sec:02</a:t>
            </a:r>
          </a:p>
          <a:p>
            <a:pPr algn="r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Mustavi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Ibne Masum  (MUM)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29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65A9-B15A-51FC-7DA4-85CCA1AC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61E6E-7FBD-CD97-19CD-2A0244C30A0F}"/>
              </a:ext>
            </a:extLst>
          </p:cNvPr>
          <p:cNvSpPr txBox="1"/>
          <p:nvPr/>
        </p:nvSpPr>
        <p:spPr>
          <a:xfrm>
            <a:off x="609600" y="1818839"/>
            <a:ext cx="10972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dustbin projects main idea is to reduce contact with the waste bin by automated system using sensors, motors etc. The project will showcase a bin which will detect level of waste using sensors and show real time data in a LCD. When someone approaches towards the bin lid will open automatically by using motors and sensors. At full condition the lid will not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automatically, it can only be opened by a push switch for a certain period of time and a led is there incase LCD is not in working mode.</a:t>
            </a: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3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18650 Rechargeable Battery 3.7V 2000 mAh Li-ion High Capacity at ₹ 19/piece  | Echargeable Li-ion Battery in New Delhi | ID: 2851759125191">
            <a:extLst>
              <a:ext uri="{FF2B5EF4-FFF2-40B4-BE49-F238E27FC236}">
                <a16:creationId xmlns:a16="http://schemas.microsoft.com/office/drawing/2014/main" id="{64111E26-0ABB-4948-9B99-CA9F0D0D4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369808" y="2089713"/>
            <a:ext cx="1377387" cy="137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ltrasonic Sonar Sensor HC-SR04">
            <a:extLst>
              <a:ext uri="{FF2B5EF4-FFF2-40B4-BE49-F238E27FC236}">
                <a16:creationId xmlns:a16="http://schemas.microsoft.com/office/drawing/2014/main" id="{F763C3CE-CF75-5CA0-FB80-CCFA2E375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70878">
            <a:off x="3187798" y="2423091"/>
            <a:ext cx="1150637" cy="115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op-down view of the Arduino Uno Rev3 board, highlighting the ATmega328P microcontroller, digital and analog I/O pins, USB-B port, and power jack.">
            <a:extLst>
              <a:ext uri="{FF2B5EF4-FFF2-40B4-BE49-F238E27FC236}">
                <a16:creationId xmlns:a16="http://schemas.microsoft.com/office/drawing/2014/main" id="{8EB6C440-B703-BD0C-AD57-7A79DDBA5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09" y="1701935"/>
            <a:ext cx="1178691" cy="88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E665A9-B15A-51FC-7DA4-85CCA1AC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03" y="332818"/>
            <a:ext cx="10429806" cy="72386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and Equipment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61E6E-7FBD-CD97-19CD-2A0244C30A0F}"/>
              </a:ext>
            </a:extLst>
          </p:cNvPr>
          <p:cNvSpPr txBox="1"/>
          <p:nvPr/>
        </p:nvSpPr>
        <p:spPr>
          <a:xfrm>
            <a:off x="672353" y="1799463"/>
            <a:ext cx="2811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1F886-2E9E-8C83-7526-129EC9B88B4F}"/>
              </a:ext>
            </a:extLst>
          </p:cNvPr>
          <p:cNvSpPr txBox="1"/>
          <p:nvPr/>
        </p:nvSpPr>
        <p:spPr>
          <a:xfrm>
            <a:off x="609600" y="2613691"/>
            <a:ext cx="24840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(HC-SR04)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675AD-4231-DECD-D486-670346C8B705}"/>
              </a:ext>
            </a:extLst>
          </p:cNvPr>
          <p:cNvSpPr txBox="1"/>
          <p:nvPr/>
        </p:nvSpPr>
        <p:spPr>
          <a:xfrm>
            <a:off x="6108976" y="5179813"/>
            <a:ext cx="23947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121C3-800E-F74B-813B-06D674B5233F}"/>
              </a:ext>
            </a:extLst>
          </p:cNvPr>
          <p:cNvSpPr txBox="1"/>
          <p:nvPr/>
        </p:nvSpPr>
        <p:spPr>
          <a:xfrm>
            <a:off x="6124216" y="2573976"/>
            <a:ext cx="23756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86070-2A71-4C22-B5D4-4BE9E2CCA6B5}"/>
              </a:ext>
            </a:extLst>
          </p:cNvPr>
          <p:cNvSpPr txBox="1"/>
          <p:nvPr/>
        </p:nvSpPr>
        <p:spPr>
          <a:xfrm>
            <a:off x="6166510" y="1552510"/>
            <a:ext cx="17131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41AB9-84AA-452D-7E28-F1AFAED44838}"/>
              </a:ext>
            </a:extLst>
          </p:cNvPr>
          <p:cNvSpPr txBox="1"/>
          <p:nvPr/>
        </p:nvSpPr>
        <p:spPr>
          <a:xfrm>
            <a:off x="609600" y="3846396"/>
            <a:ext cx="2143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</p:txBody>
      </p:sp>
      <p:pic>
        <p:nvPicPr>
          <p:cNvPr id="1030" name="Picture 6" descr="9G Micro Servo Motor SG90 for RC Robot Helicopter Airplane Car">
            <a:extLst>
              <a:ext uri="{FF2B5EF4-FFF2-40B4-BE49-F238E27FC236}">
                <a16:creationId xmlns:a16="http://schemas.microsoft.com/office/drawing/2014/main" id="{B4348282-CB15-400F-F1F3-6FDB64C8C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36" y="3481862"/>
            <a:ext cx="1139049" cy="113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A446-CCBA-D0F4-5A48-053166A7C735}"/>
              </a:ext>
            </a:extLst>
          </p:cNvPr>
          <p:cNvSpPr txBox="1"/>
          <p:nvPr/>
        </p:nvSpPr>
        <p:spPr>
          <a:xfrm>
            <a:off x="617667" y="4625816"/>
            <a:ext cx="2121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18650 Battery case holder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03345-FD9A-5DCB-E8F2-893B1DC5F37A}"/>
              </a:ext>
            </a:extLst>
          </p:cNvPr>
          <p:cNvSpPr txBox="1"/>
          <p:nvPr/>
        </p:nvSpPr>
        <p:spPr>
          <a:xfrm>
            <a:off x="653922" y="5550311"/>
            <a:ext cx="2248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Push Switch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E2DDB-E79D-AE6D-C3C9-96C884D9D8D4}"/>
              </a:ext>
            </a:extLst>
          </p:cNvPr>
          <p:cNvSpPr txBox="1"/>
          <p:nvPr/>
        </p:nvSpPr>
        <p:spPr>
          <a:xfrm>
            <a:off x="6100096" y="3571538"/>
            <a:ext cx="316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I2C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Driver</a:t>
            </a:r>
          </a:p>
        </p:txBody>
      </p:sp>
      <p:pic>
        <p:nvPicPr>
          <p:cNvPr id="15" name="Picture 14" descr="A black battery with red wire&#10;&#10;AI-generated content may be incorrect.">
            <a:extLst>
              <a:ext uri="{FF2B5EF4-FFF2-40B4-BE49-F238E27FC236}">
                <a16:creationId xmlns:a16="http://schemas.microsoft.com/office/drawing/2014/main" id="{F3275C84-F938-3159-E66A-54C0F5F6C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16875">
            <a:off x="3195139" y="4296873"/>
            <a:ext cx="1496366" cy="1496366"/>
          </a:xfrm>
          <a:prstGeom prst="rect">
            <a:avLst/>
          </a:prstGeom>
        </p:spPr>
      </p:pic>
      <p:pic>
        <p:nvPicPr>
          <p:cNvPr id="17" name="Picture 16" descr="A green circuit board with a yellow button&#10;&#10;AI-generated content may be incorrect.">
            <a:extLst>
              <a:ext uri="{FF2B5EF4-FFF2-40B4-BE49-F238E27FC236}">
                <a16:creationId xmlns:a16="http://schemas.microsoft.com/office/drawing/2014/main" id="{8BE11788-E813-DB39-D03B-4BE883D477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985" y="5297165"/>
            <a:ext cx="1238563" cy="1238563"/>
          </a:xfrm>
          <a:prstGeom prst="rect">
            <a:avLst/>
          </a:prstGeom>
        </p:spPr>
      </p:pic>
      <p:pic>
        <p:nvPicPr>
          <p:cNvPr id="19" name="Picture 18" descr="A close-up of a white circuit board&#10;&#10;AI-generated content may be incorrect.">
            <a:extLst>
              <a:ext uri="{FF2B5EF4-FFF2-40B4-BE49-F238E27FC236}">
                <a16:creationId xmlns:a16="http://schemas.microsoft.com/office/drawing/2014/main" id="{4738C02D-6BBE-19ED-A7B0-F805269461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437" y="1226650"/>
            <a:ext cx="2520937" cy="1419446"/>
          </a:xfrm>
          <a:prstGeom prst="rect">
            <a:avLst/>
          </a:prstGeom>
        </p:spPr>
      </p:pic>
      <p:pic>
        <p:nvPicPr>
          <p:cNvPr id="26" name="Picture 25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C56D0548-8F74-548C-F5E6-E9A0A37CBF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2051">
            <a:off x="9526707" y="3310532"/>
            <a:ext cx="1498448" cy="1498448"/>
          </a:xfrm>
          <a:prstGeom prst="rect">
            <a:avLst/>
          </a:prstGeom>
        </p:spPr>
      </p:pic>
      <p:pic>
        <p:nvPicPr>
          <p:cNvPr id="28" name="Picture 27" descr="A group of colorful wires&#10;&#10;AI-generated content may be incorrect.">
            <a:extLst>
              <a:ext uri="{FF2B5EF4-FFF2-40B4-BE49-F238E27FC236}">
                <a16:creationId xmlns:a16="http://schemas.microsoft.com/office/drawing/2014/main" id="{75107013-A671-C31B-504F-0BF0063698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38278">
            <a:off x="9678593" y="4797917"/>
            <a:ext cx="1194677" cy="119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68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F112-8C1A-2FA3-7E64-571144E9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AC0F-F84C-601A-AF43-D3BA65D1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03" y="332818"/>
            <a:ext cx="10429806" cy="72386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and Equipment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2E6D7-97CC-70CB-13CD-49B1ED577B60}"/>
              </a:ext>
            </a:extLst>
          </p:cNvPr>
          <p:cNvSpPr txBox="1"/>
          <p:nvPr/>
        </p:nvSpPr>
        <p:spPr>
          <a:xfrm>
            <a:off x="623062" y="1586573"/>
            <a:ext cx="2811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Led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DD0BB-6B70-85C6-57EF-F7E2807F5DCF}"/>
              </a:ext>
            </a:extLst>
          </p:cNvPr>
          <p:cNvSpPr txBox="1"/>
          <p:nvPr/>
        </p:nvSpPr>
        <p:spPr>
          <a:xfrm>
            <a:off x="608408" y="2307204"/>
            <a:ext cx="24840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D9D98-B35F-9A2E-D186-8DA4543B9BA1}"/>
              </a:ext>
            </a:extLst>
          </p:cNvPr>
          <p:cNvSpPr txBox="1"/>
          <p:nvPr/>
        </p:nvSpPr>
        <p:spPr>
          <a:xfrm>
            <a:off x="6117376" y="3095224"/>
            <a:ext cx="18568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14CD4-B738-F906-5802-9AFF369D8DDA}"/>
              </a:ext>
            </a:extLst>
          </p:cNvPr>
          <p:cNvSpPr txBox="1"/>
          <p:nvPr/>
        </p:nvSpPr>
        <p:spPr>
          <a:xfrm>
            <a:off x="6096000" y="1900237"/>
            <a:ext cx="23756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D9E49F-678B-D4EF-4AFA-31AABA1FC39F}"/>
              </a:ext>
            </a:extLst>
          </p:cNvPr>
          <p:cNvSpPr txBox="1"/>
          <p:nvPr/>
        </p:nvSpPr>
        <p:spPr>
          <a:xfrm>
            <a:off x="609600" y="3953076"/>
            <a:ext cx="2143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Jack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150686-73E2-911E-2713-C1A39EC9DEB9}"/>
              </a:ext>
            </a:extLst>
          </p:cNvPr>
          <p:cNvSpPr txBox="1"/>
          <p:nvPr/>
        </p:nvSpPr>
        <p:spPr>
          <a:xfrm>
            <a:off x="609600" y="4966423"/>
            <a:ext cx="2121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18650 Battery Charger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DCF4F-5151-2155-F4AE-6EE9EDD4A4A2}"/>
              </a:ext>
            </a:extLst>
          </p:cNvPr>
          <p:cNvSpPr txBox="1"/>
          <p:nvPr/>
        </p:nvSpPr>
        <p:spPr>
          <a:xfrm>
            <a:off x="599260" y="3087406"/>
            <a:ext cx="20516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On/off Switch</a:t>
            </a:r>
          </a:p>
        </p:txBody>
      </p:sp>
      <p:pic>
        <p:nvPicPr>
          <p:cNvPr id="21" name="Picture 20" descr="A red switch with white letters&#10;&#10;AI-generated content may be incorrect.">
            <a:extLst>
              <a:ext uri="{FF2B5EF4-FFF2-40B4-BE49-F238E27FC236}">
                <a16:creationId xmlns:a16="http://schemas.microsoft.com/office/drawing/2014/main" id="{EE56D85B-4C68-D147-0153-20DD290B6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947" y="3011604"/>
            <a:ext cx="938824" cy="506689"/>
          </a:xfrm>
          <a:prstGeom prst="rect">
            <a:avLst/>
          </a:prstGeom>
        </p:spPr>
      </p:pic>
      <p:pic>
        <p:nvPicPr>
          <p:cNvPr id="30" name="Picture 29" descr="A stack of white paper&#10;&#10;AI-generated content may be incorrect.">
            <a:extLst>
              <a:ext uri="{FF2B5EF4-FFF2-40B4-BE49-F238E27FC236}">
                <a16:creationId xmlns:a16="http://schemas.microsoft.com/office/drawing/2014/main" id="{E1434F1D-8073-2506-A5D0-0AF810158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303" y="2938865"/>
            <a:ext cx="893180" cy="893180"/>
          </a:xfrm>
          <a:prstGeom prst="rect">
            <a:avLst/>
          </a:prstGeom>
        </p:spPr>
      </p:pic>
      <p:pic>
        <p:nvPicPr>
          <p:cNvPr id="16" name="Picture 15" descr="A red led with a black background&#10;&#10;AI-generated content may be incorrect.">
            <a:extLst>
              <a:ext uri="{FF2B5EF4-FFF2-40B4-BE49-F238E27FC236}">
                <a16:creationId xmlns:a16="http://schemas.microsoft.com/office/drawing/2014/main" id="{47D375DB-6DE0-A0A4-AC45-195C602AC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3339011" y="1195667"/>
            <a:ext cx="1324368" cy="1324368"/>
          </a:xfrm>
          <a:prstGeom prst="rect">
            <a:avLst/>
          </a:prstGeom>
        </p:spPr>
      </p:pic>
      <p:pic>
        <p:nvPicPr>
          <p:cNvPr id="20" name="Picture 19" descr="A close-up of a resistor&#10;&#10;AI-generated content may be incorrect.">
            <a:extLst>
              <a:ext uri="{FF2B5EF4-FFF2-40B4-BE49-F238E27FC236}">
                <a16:creationId xmlns:a16="http://schemas.microsoft.com/office/drawing/2014/main" id="{E1C86222-D3C2-2DE3-B7EA-79F3A401E4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695" y="1655174"/>
            <a:ext cx="1713191" cy="1713191"/>
          </a:xfrm>
          <a:prstGeom prst="rect">
            <a:avLst/>
          </a:prstGeom>
        </p:spPr>
      </p:pic>
      <p:pic>
        <p:nvPicPr>
          <p:cNvPr id="23" name="Picture 22" descr="A close-up of a metal device&#10;&#10;AI-generated content may be incorrect.">
            <a:extLst>
              <a:ext uri="{FF2B5EF4-FFF2-40B4-BE49-F238E27FC236}">
                <a16:creationId xmlns:a16="http://schemas.microsoft.com/office/drawing/2014/main" id="{985DFFA7-9438-B0F6-DEA3-9FFE54541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10202">
            <a:off x="3119545" y="3297433"/>
            <a:ext cx="1793013" cy="1793013"/>
          </a:xfrm>
          <a:prstGeom prst="rect">
            <a:avLst/>
          </a:prstGeom>
        </p:spPr>
      </p:pic>
      <p:pic>
        <p:nvPicPr>
          <p:cNvPr id="25" name="Picture 24" descr="A battery charging device with a black cover&#10;&#10;AI-generated content may be incorrect.">
            <a:extLst>
              <a:ext uri="{FF2B5EF4-FFF2-40B4-BE49-F238E27FC236}">
                <a16:creationId xmlns:a16="http://schemas.microsoft.com/office/drawing/2014/main" id="{EC2E8FC5-A36B-BB0C-1EDC-0E01196DAA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75482">
            <a:off x="2893867" y="4409717"/>
            <a:ext cx="2143125" cy="2143125"/>
          </a:xfrm>
          <a:prstGeom prst="rect">
            <a:avLst/>
          </a:prstGeom>
        </p:spPr>
      </p:pic>
      <p:pic>
        <p:nvPicPr>
          <p:cNvPr id="29" name="Picture 28" descr="A pair of silver hinge&#10;&#10;AI-generated content may be incorrect.">
            <a:extLst>
              <a:ext uri="{FF2B5EF4-FFF2-40B4-BE49-F238E27FC236}">
                <a16:creationId xmlns:a16="http://schemas.microsoft.com/office/drawing/2014/main" id="{B79C4E0C-D288-93AE-E6AB-759B2BB916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40059">
            <a:off x="9069629" y="1509211"/>
            <a:ext cx="1306208" cy="13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1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E817-0720-1E87-9F12-0451E396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BABF-B500-0248-466E-A2791509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&amp; Total</a:t>
            </a:r>
            <a:r>
              <a:rPr lang="en-US" sz="4400" b="1" dirty="0"/>
              <a:t> Cost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C45505-FBD6-8D68-17EA-3E4DDEE47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959125"/>
              </p:ext>
            </p:extLst>
          </p:nvPr>
        </p:nvGraphicFramePr>
        <p:xfrm>
          <a:off x="370840" y="1686016"/>
          <a:ext cx="11424920" cy="4420146"/>
        </p:xfrm>
        <a:graphic>
          <a:graphicData uri="http://schemas.openxmlformats.org/drawingml/2006/table">
            <a:tbl>
              <a:tblPr/>
              <a:tblGrid>
                <a:gridCol w="451574">
                  <a:extLst>
                    <a:ext uri="{9D8B030D-6E8A-4147-A177-3AD203B41FA5}">
                      <a16:colId xmlns:a16="http://schemas.microsoft.com/office/drawing/2014/main" val="2166679914"/>
                    </a:ext>
                  </a:extLst>
                </a:gridCol>
                <a:gridCol w="6052808">
                  <a:extLst>
                    <a:ext uri="{9D8B030D-6E8A-4147-A177-3AD203B41FA5}">
                      <a16:colId xmlns:a16="http://schemas.microsoft.com/office/drawing/2014/main" val="2913943094"/>
                    </a:ext>
                  </a:extLst>
                </a:gridCol>
                <a:gridCol w="1836914">
                  <a:extLst>
                    <a:ext uri="{9D8B030D-6E8A-4147-A177-3AD203B41FA5}">
                      <a16:colId xmlns:a16="http://schemas.microsoft.com/office/drawing/2014/main" val="2004486099"/>
                    </a:ext>
                  </a:extLst>
                </a:gridCol>
                <a:gridCol w="1479591">
                  <a:extLst>
                    <a:ext uri="{9D8B030D-6E8A-4147-A177-3AD203B41FA5}">
                      <a16:colId xmlns:a16="http://schemas.microsoft.com/office/drawing/2014/main" val="2463386708"/>
                    </a:ext>
                  </a:extLst>
                </a:gridCol>
                <a:gridCol w="1604033">
                  <a:extLst>
                    <a:ext uri="{9D8B030D-6E8A-4147-A177-3AD203B41FA5}">
                      <a16:colId xmlns:a16="http://schemas.microsoft.com/office/drawing/2014/main" val="874666590"/>
                    </a:ext>
                  </a:extLst>
                </a:gridCol>
              </a:tblGrid>
              <a:tr h="4050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SN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Component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Quantity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Rate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Price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521889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Arduino Uno (DIP)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41321"/>
                  </a:ext>
                </a:extLst>
              </a:tr>
              <a:tr h="3769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Ultrasonic Sensor  (HC-SR04)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498080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Servo Motor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921006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Breadboard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852651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Battery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14702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Jumper Wires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008615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18650 Battery case holder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622789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Single Push Switch module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012533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On/off Switch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873532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Lcd Display I2C With Driver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95863"/>
                  </a:ext>
                </a:extLst>
              </a:tr>
              <a:tr h="362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Pvc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Board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1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  <a:endParaRPr lang="en-US" sz="2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54" marR="8854" marT="88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525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22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BCF9-892F-CD6A-14C7-D95E2C62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0619-5937-FAA1-8390-3CE08F33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&amp; Total</a:t>
            </a:r>
            <a:r>
              <a:rPr lang="en-US" sz="4400" b="1" dirty="0"/>
              <a:t> Cost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0A9954-A748-457C-5B91-6801EADA1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51179"/>
              </p:ext>
            </p:extLst>
          </p:nvPr>
        </p:nvGraphicFramePr>
        <p:xfrm>
          <a:off x="477520" y="1548801"/>
          <a:ext cx="11287761" cy="4254750"/>
        </p:xfrm>
        <a:graphic>
          <a:graphicData uri="http://schemas.openxmlformats.org/drawingml/2006/table">
            <a:tbl>
              <a:tblPr/>
              <a:tblGrid>
                <a:gridCol w="990426">
                  <a:extLst>
                    <a:ext uri="{9D8B030D-6E8A-4147-A177-3AD203B41FA5}">
                      <a16:colId xmlns:a16="http://schemas.microsoft.com/office/drawing/2014/main" val="856774739"/>
                    </a:ext>
                  </a:extLst>
                </a:gridCol>
                <a:gridCol w="6791658">
                  <a:extLst>
                    <a:ext uri="{9D8B030D-6E8A-4147-A177-3AD203B41FA5}">
                      <a16:colId xmlns:a16="http://schemas.microsoft.com/office/drawing/2014/main" val="1538280707"/>
                    </a:ext>
                  </a:extLst>
                </a:gridCol>
                <a:gridCol w="723224">
                  <a:extLst>
                    <a:ext uri="{9D8B030D-6E8A-4147-A177-3AD203B41FA5}">
                      <a16:colId xmlns:a16="http://schemas.microsoft.com/office/drawing/2014/main" val="1749027891"/>
                    </a:ext>
                  </a:extLst>
                </a:gridCol>
                <a:gridCol w="1257625">
                  <a:extLst>
                    <a:ext uri="{9D8B030D-6E8A-4147-A177-3AD203B41FA5}">
                      <a16:colId xmlns:a16="http://schemas.microsoft.com/office/drawing/2014/main" val="3975203538"/>
                    </a:ext>
                  </a:extLst>
                </a:gridCol>
                <a:gridCol w="1524828">
                  <a:extLst>
                    <a:ext uri="{9D8B030D-6E8A-4147-A177-3AD203B41FA5}">
                      <a16:colId xmlns:a16="http://schemas.microsoft.com/office/drawing/2014/main" val="1971274100"/>
                    </a:ext>
                  </a:extLst>
                </a:gridCol>
              </a:tblGrid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Led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578019"/>
                  </a:ext>
                </a:extLst>
              </a:tr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Resistor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325014"/>
                  </a:ext>
                </a:extLst>
              </a:tr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Male Jack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031879"/>
                  </a:ext>
                </a:extLst>
              </a:tr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18650 Battery Charger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45734"/>
                  </a:ext>
                </a:extLst>
              </a:tr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Some Extra instrument 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034038"/>
                  </a:ext>
                </a:extLst>
              </a:tr>
              <a:tr h="442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Hinges</a:t>
                      </a:r>
                      <a:endParaRPr lang="en-US" sz="1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740712"/>
                  </a:ext>
                </a:extLst>
              </a:tr>
              <a:tr h="58614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  <a:endParaRPr lang="en-US" sz="3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002" marR="157002" marT="78501" marB="7850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2912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083" marR="13083" marT="130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46987"/>
                  </a:ext>
                </a:extLst>
              </a:tr>
              <a:tr h="50763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 Rafi Alam</a:t>
                      </a:r>
                      <a:endParaRPr lang="en-US" sz="3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002" marR="157002" marT="78501" marB="7850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1450</a:t>
                      </a:r>
                      <a:endParaRPr lang="en-US" sz="3100" b="1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002" marR="157002" marT="78501" marB="7850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CB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401982"/>
                  </a:ext>
                </a:extLst>
              </a:tr>
              <a:tr h="50763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 Sakib Khan</a:t>
                      </a:r>
                      <a:endParaRPr lang="en-US" sz="31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002" marR="157002" marT="78501" marB="7850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1462</a:t>
                      </a:r>
                      <a:endParaRPr lang="en-US" sz="3100" b="1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7002" marR="157002" marT="78501" marB="7850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837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08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65A9-B15A-51FC-7DA4-85CCA1AC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Circuit Diagram</a:t>
            </a:r>
          </a:p>
        </p:txBody>
      </p:sp>
      <p:pic>
        <p:nvPicPr>
          <p:cNvPr id="4" name="Picture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E47D87B1-DF71-C2B6-0A4A-F7B2F9A5D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5" r="17625"/>
          <a:stretch/>
        </p:blipFill>
        <p:spPr>
          <a:xfrm>
            <a:off x="2006697" y="1508682"/>
            <a:ext cx="7833360" cy="501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3BB4E4-EEF2-C28F-F6C3-C5DA05D0278E}"/>
              </a:ext>
            </a:extLst>
          </p:cNvPr>
          <p:cNvSpPr txBox="1"/>
          <p:nvPr/>
        </p:nvSpPr>
        <p:spPr>
          <a:xfrm>
            <a:off x="182880" y="5601852"/>
            <a:ext cx="268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https://www.tinkercad.com/things/6PTf9wDQI4K-smart-dustbin</a:t>
            </a:r>
          </a:p>
        </p:txBody>
      </p:sp>
    </p:spTree>
    <p:extLst>
      <p:ext uri="{BB962C8B-B14F-4D97-AF65-F5344CB8AC3E}">
        <p14:creationId xmlns:p14="http://schemas.microsoft.com/office/powerpoint/2010/main" val="149929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7B4A-8C24-A26D-C180-BF73B576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DA21-F9C4-0DF6-60BE-9DADACE8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0A241-DB88-EC51-7108-79E594E7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1" y="1562657"/>
            <a:ext cx="4857750" cy="4962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FDACBB-2103-E3A3-C196-B3D98FE34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571" y="1476375"/>
            <a:ext cx="43815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0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6697-6DBC-E758-4F10-86FD1896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0F2E-1264-0A6C-0848-F42F5903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9EEE4-5B0F-4305-2776-911D0D265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2" y="1583000"/>
            <a:ext cx="7802064" cy="4810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21C777-D6AA-FD63-E2AC-5FAC7BBFB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045" y="1583000"/>
            <a:ext cx="5048955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0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92BE0-4A6B-7019-32D0-64A1E3C1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E439-13F0-B99D-5B28-B1A277C2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718B1-1DA7-0368-83C8-5385FFF9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638"/>
          <a:stretch/>
        </p:blipFill>
        <p:spPr>
          <a:xfrm>
            <a:off x="484200" y="1754220"/>
            <a:ext cx="8888337" cy="44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508B-8BF7-626D-DB1A-DAF7BBCF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0125-2096-7044-BFEF-97814BF5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A5EFC-0ACF-E537-679E-7487BCC0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330"/>
          <a:stretch/>
        </p:blipFill>
        <p:spPr>
          <a:xfrm>
            <a:off x="609600" y="1687525"/>
            <a:ext cx="9956138" cy="3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08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3D0C-9641-AF9C-A994-E3786A5D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3268-7F67-5343-DB99-30630BDB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7122D-8815-A62E-40FC-49801E26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0" y="1703948"/>
            <a:ext cx="5303095" cy="26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5A12-1F0D-4A85-68BB-DAEC9137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F62C-0726-1A84-3610-4E8082BD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Video</a:t>
            </a:r>
          </a:p>
        </p:txBody>
      </p:sp>
      <p:pic>
        <p:nvPicPr>
          <p:cNvPr id="3" name="WhatsApp Video 2025-06-02 at 22.19.43_055bdc4e">
            <a:hlinkClick r:id="" action="ppaction://media"/>
            <a:extLst>
              <a:ext uri="{FF2B5EF4-FFF2-40B4-BE49-F238E27FC236}">
                <a16:creationId xmlns:a16="http://schemas.microsoft.com/office/drawing/2014/main" id="{9AC0732A-2AEB-562A-2A14-C023703140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58720" y="1410430"/>
            <a:ext cx="9074560" cy="511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6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19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1687-8DF1-1ED4-5A98-FAFA9148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0ABCF0D-9E6B-4C00-D8AB-EF7F04158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00383"/>
            <a:ext cx="18473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öhne"/>
              </a:rPr>
            </a:br>
            <a:endParaRPr kumimoji="0" lang="en-US" altLang="en-US" sz="8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F0712-470D-1774-B4DA-E4CC0068E395}"/>
              </a:ext>
            </a:extLst>
          </p:cNvPr>
          <p:cNvSpPr txBox="1"/>
          <p:nvPr/>
        </p:nvSpPr>
        <p:spPr>
          <a:xfrm>
            <a:off x="609600" y="3247023"/>
            <a:ext cx="10972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100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3351</TotalTime>
  <Words>364</Words>
  <Application>Microsoft Office PowerPoint</Application>
  <PresentationFormat>Widescreen</PresentationFormat>
  <Paragraphs>142</Paragraphs>
  <Slides>15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Project Overview</vt:lpstr>
      <vt:lpstr>Sensors and Equipment</vt:lpstr>
      <vt:lpstr>Sensors and Equipment</vt:lpstr>
      <vt:lpstr>Individual &amp; Total Cost</vt:lpstr>
      <vt:lpstr>Individual &amp; Total Cost</vt:lpstr>
      <vt:lpstr>Circuit Diagram</vt:lpstr>
      <vt:lpstr>Project Code</vt:lpstr>
      <vt:lpstr>Project Code</vt:lpstr>
      <vt:lpstr>Project Code</vt:lpstr>
      <vt:lpstr>Project Code</vt:lpstr>
      <vt:lpstr>Project Code</vt:lpstr>
      <vt:lpstr>Project Video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Problem-1</dc:title>
  <dc:creator>MD SAKIB</dc:creator>
  <cp:lastModifiedBy>user</cp:lastModifiedBy>
  <cp:revision>32</cp:revision>
  <dcterms:created xsi:type="dcterms:W3CDTF">2024-05-14T12:31:57Z</dcterms:created>
  <dcterms:modified xsi:type="dcterms:W3CDTF">2025-06-02T16:23:14Z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2024-05-14T13:27:11Z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77cf9c14-0324-4886-83c2-4e5c3fec8360</vt:lpwstr>
  </property>
  <property fmtid="{D5CDD505-2E9C-101B-9397-08002B2CF9AE}" pid="7" name="MSIP_Label_defa4170-0d19-0005-0004-bc88714345d2_ActionId">
    <vt:lpwstr>726b6560-2258-47bd-924a-181c4ab3da2f</vt:lpwstr>
  </property>
  <property fmtid="{D5CDD505-2E9C-101B-9397-08002B2CF9AE}" pid="8" name="MSIP_Label_defa4170-0d19-0005-0004-bc88714345d2_ContentBits">
    <vt:lpwstr>0</vt:lpwstr>
  </property>
</Properties>
</file>